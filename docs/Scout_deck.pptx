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937"/>
                </a:solidFill>
                <a:latin typeface="Calibri"/>
              </a:rPr>
              <a:t>Median tokens per full run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tokens per run</c:v>
                </c:pt>
              </c:strCache>
            </c:strRef>
          </c:tx>
          <c:spPr>
            <a:solidFill>
              <a:srgbClr val="1C26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264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A3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1A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Competitor (1)</c:v>
                  </c:pt>
                  <c:pt idx="1">
                    <c:v>Interview prep (5)</c:v>
                  </c:pt>
                  <c:pt idx="2">
                    <c:v>Sales prospect (7)</c:v>
                  </c:pt>
                  <c:pt idx="3">
                    <c:v>All (13)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33936</c:v>
                </c:pt>
                <c:pt idx="1">
                  <c:v>30478</c:v>
                </c:pt>
                <c:pt idx="2">
                  <c:v>40444</c:v>
                </c:pt>
                <c:pt idx="3">
                  <c:v>38190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1005840" cy="10058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07442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0116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Scout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purpose-aware company intelligence agent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7490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company and a reason. It plans research around that reason, cites every claim, checks its own work, and gets faster with every run.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1206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Udit Singh Chauhan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Agentic System Challenge · September 2026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github.com/UditSinghChauhan/scout-agent</a:t>
            </a:r>
            <a:endParaRPr lang="en-US" sz="1400" dirty="0"/>
          </a:p>
        </p:txBody>
      </p:sp>
      <p:pic>
        <p:nvPicPr>
          <p:cNvPr id="8" name="Image 1" descr="/home/user/scout-agent/docs/img/u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685800"/>
            <a:ext cx="4572000" cy="423367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pic>
      <p:sp>
        <p:nvSpPr>
          <p:cNvPr id="9" name="Text 5"/>
          <p:cNvSpPr txBox="1"/>
          <p:nvPr/>
        </p:nvSpPr>
        <p:spPr>
          <a:xfrm>
            <a:off x="7086600" y="5212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UI: plan, trace, metrics and a cited brief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you ask changes what you need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company — Zoho — three people, three different research jobs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731520" cy="7315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86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971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rep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29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sell a campus hiring platform. How do we pitch Zoho?”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251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Size, hiring programs, current tools, buyer roles, buying signals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182880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103120"/>
            <a:ext cx="731520" cy="731520"/>
          </a:xfrm>
          <a:prstGeom prst="ellipse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2860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2971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Competitor analyst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429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does Freshworks compete with us?”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4251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pricing, positioning, recent moves, threat level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046720" y="182880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21040" y="2103120"/>
            <a:ext cx="731520" cy="731520"/>
          </a:xfrm>
          <a:prstGeom prst="ellipse">
            <a:avLst/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2860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21040" y="2971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candidate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3429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“Prep me for an SDE intern interview at Zoho.”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4251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stack, engineering culture, interview formats, recent news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research agents run one generic prompt and return one generic summary. </a:t>
            </a:r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turns the purpose into the plan.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· github.com/UditSinghChauhan/scout-agent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Scout does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promises, each enforced in code — not just asked for in a prompt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85800" cy="6858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95453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Plans around the purpose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12140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classifies the goal (sales, competitor, interview prep); a playbook + past lessons shape a ≤5-step plan.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898648"/>
            <a:ext cx="685800" cy="685800"/>
          </a:xfrm>
          <a:prstGeom prst="ellipse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3070098"/>
            <a:ext cx="342900" cy="3429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28529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Cites every claim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1463040" y="323697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brief claim must point to evidence the agent actually collected with its tools.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4014216"/>
            <a:ext cx="685800" cy="685800"/>
          </a:xfrm>
          <a:prstGeom prst="ellipse">
            <a:avLst/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4185666"/>
            <a:ext cx="342900" cy="3429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9684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Checks its own work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1463040" y="435254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 grades each step (retry / follow-up / unknown); a deterministic verifier checks citations and numbers.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5129784"/>
            <a:ext cx="685800" cy="6858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5301234"/>
            <a:ext cx="342900" cy="3429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63040" y="50840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Learns with use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1463040" y="546811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facts, source reliability scores and strategy lessons carry into the next run.</a:t>
            </a:r>
            <a:endParaRPr lang="en-US" sz="1400" dirty="0"/>
          </a:p>
        </p:txBody>
      </p:sp>
      <p:pic>
        <p:nvPicPr>
          <p:cNvPr id="20" name="Image 4" descr="/home/user/scout-agent/docs/img/comp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2011680"/>
            <a:ext cx="4846320" cy="240054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pic>
      <p:sp>
        <p:nvSpPr>
          <p:cNvPr id="21" name="Text 14"/>
          <p:cNvSpPr txBox="1"/>
          <p:nvPr/>
        </p:nvSpPr>
        <p:spPr>
          <a:xfrm>
            <a:off x="6766560" y="459510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company, two purposes → two different plans (recorded runs 1 and 2). Run 2's first step was answered from memory.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· github.com/UditSinghChauhan/scout-agent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an explicit state machine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Hand-written, no agent framework. The orchestrator is a Python generator of events.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234440" cy="914400"/>
          </a:xfrm>
          <a:prstGeom prst="roundRect">
            <a:avLst>
              <a:gd name="adj" fmla="val 10000"/>
            </a:avLst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1234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→ task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01368" y="2487168"/>
            <a:ext cx="128016" cy="146304"/>
          </a:xfrm>
          <a:prstGeom prst="rightArrow">
            <a:avLst/>
          </a:prstGeom>
          <a:solidFill>
            <a:srgbClr val="9AA1AE"/>
          </a:solidFill>
          <a:ln w="12700">
            <a:solidFill>
              <a:srgbClr val="9AA1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47672" y="2103120"/>
            <a:ext cx="1234440" cy="914400"/>
          </a:xfrm>
          <a:prstGeom prst="roundRect">
            <a:avLst>
              <a:gd name="adj" fmla="val 10000"/>
            </a:avLst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47672" y="2103120"/>
            <a:ext cx="1234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2487168"/>
            <a:ext cx="128016" cy="146304"/>
          </a:xfrm>
          <a:prstGeom prst="rightArrow">
            <a:avLst/>
          </a:prstGeom>
          <a:solidFill>
            <a:srgbClr val="9AA1AE"/>
          </a:solidFill>
          <a:ln w="12700">
            <a:solidFill>
              <a:srgbClr val="9AA1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46704" y="2103120"/>
            <a:ext cx="1234440" cy="914400"/>
          </a:xfrm>
          <a:prstGeom prst="roundRect">
            <a:avLst>
              <a:gd name="adj" fmla="val 10000"/>
            </a:avLst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46704" y="2103120"/>
            <a:ext cx="1234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99432" y="2487168"/>
            <a:ext cx="128016" cy="146304"/>
          </a:xfrm>
          <a:prstGeom prst="rightArrow">
            <a:avLst/>
          </a:prstGeom>
          <a:solidFill>
            <a:srgbClr val="9AA1AE"/>
          </a:solidFill>
          <a:ln w="12700">
            <a:solidFill>
              <a:srgbClr val="9AA1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45736" y="2103120"/>
            <a:ext cx="1234440" cy="914400"/>
          </a:xfrm>
          <a:prstGeom prst="roundRect">
            <a:avLst>
              <a:gd name="adj" fmla="val 10000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45736" y="2103120"/>
            <a:ext cx="1234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tools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98464" y="2487168"/>
            <a:ext cx="128016" cy="146304"/>
          </a:xfrm>
          <a:prstGeom prst="rightArrow">
            <a:avLst/>
          </a:prstGeom>
          <a:solidFill>
            <a:srgbClr val="9AA1AE"/>
          </a:solidFill>
          <a:ln w="12700">
            <a:solidFill>
              <a:srgbClr val="9AA1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44768" y="2103120"/>
            <a:ext cx="1234440" cy="914400"/>
          </a:xfrm>
          <a:prstGeom prst="roundRect">
            <a:avLst>
              <a:gd name="adj" fmla="val 10000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44768" y="2103120"/>
            <a:ext cx="1234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97496" y="2487168"/>
            <a:ext cx="128016" cy="146304"/>
          </a:xfrm>
          <a:prstGeom prst="rightArrow">
            <a:avLst/>
          </a:prstGeom>
          <a:solidFill>
            <a:srgbClr val="9AA1AE"/>
          </a:solidFill>
          <a:ln w="12700">
            <a:solidFill>
              <a:srgbClr val="9AA1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43800" y="2103120"/>
            <a:ext cx="1234440" cy="914400"/>
          </a:xfrm>
          <a:prstGeom prst="roundRect">
            <a:avLst>
              <a:gd name="adj" fmla="val 10000"/>
            </a:avLst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43800" y="2103120"/>
            <a:ext cx="1234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brief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796528" y="2487168"/>
            <a:ext cx="128016" cy="146304"/>
          </a:xfrm>
          <a:prstGeom prst="rightArrow">
            <a:avLst/>
          </a:prstGeom>
          <a:solidFill>
            <a:srgbClr val="9AA1AE"/>
          </a:solidFill>
          <a:ln w="12700">
            <a:solidFill>
              <a:srgbClr val="9AA1A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42832" y="2103120"/>
            <a:ext cx="1234440" cy="914400"/>
          </a:xfrm>
          <a:prstGeom prst="roundRect">
            <a:avLst>
              <a:gd name="adj" fmla="val 10000"/>
            </a:avLst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42832" y="2103120"/>
            <a:ext cx="1234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citations, numbers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195560" y="2487168"/>
            <a:ext cx="128016" cy="146304"/>
          </a:xfrm>
          <a:prstGeom prst="rightArrow">
            <a:avLst/>
          </a:prstGeom>
          <a:solidFill>
            <a:srgbClr val="9AA1AE"/>
          </a:solidFill>
          <a:ln w="12700">
            <a:solidFill>
              <a:srgbClr val="9AA1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41864" y="2103120"/>
            <a:ext cx="1234440" cy="914400"/>
          </a:xfrm>
          <a:prstGeom prst="roundRect">
            <a:avLst>
              <a:gd name="adj" fmla="val 10000"/>
            </a:avLst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341864" y="2103120"/>
            <a:ext cx="1234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471416" y="3154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⟲  critic loop: next step · retry with a new approach · follow-up step (replan) · unknown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543800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A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⟲  verify → one revision → Unknowns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79476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" y="4023360"/>
            <a:ext cx="594360" cy="594360"/>
          </a:xfrm>
          <a:prstGeom prst="ellipse">
            <a:avLst/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4171950"/>
            <a:ext cx="297180" cy="297180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1508760" y="39044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+ router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508760" y="4224528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calls validated by Pydantic, one repair; tiered router over 3 Groq models + Gemini, failover on quota/401/404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172200" y="379476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355080" y="4023360"/>
            <a:ext cx="594360" cy="594360"/>
          </a:xfrm>
          <a:prstGeom prst="ellipse">
            <a:avLst/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670" y="4171950"/>
            <a:ext cx="297180" cy="297180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7132320" y="39044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7132320" y="4224528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web_search (Tavily → DuckDuckGo), fetch_page (SSRF-guarded, trafilatura), recall_memory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548640" y="502920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731520" y="5257800"/>
            <a:ext cx="594360" cy="594360"/>
          </a:xfrm>
          <a:prstGeom prst="ellipse">
            <a:avLst/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5406390"/>
            <a:ext cx="297180" cy="297180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1508760" y="51389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1500" dirty="0"/>
          </a:p>
        </p:txBody>
      </p:sp>
      <p:sp>
        <p:nvSpPr>
          <p:cNvPr id="43" name="Text 38"/>
          <p:cNvSpPr txBox="1"/>
          <p:nvPr/>
        </p:nvSpPr>
        <p:spPr>
          <a:xfrm>
            <a:off x="1508760" y="5458968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SQLite: runs, facts (7-day / 2-day freshness), source scores, lessons, feedback</a:t>
            </a:r>
            <a:endParaRPr lang="en-US" sz="1200" dirty="0"/>
          </a:p>
        </p:txBody>
      </p:sp>
      <p:sp>
        <p:nvSpPr>
          <p:cNvPr id="44" name="Shape 39"/>
          <p:cNvSpPr/>
          <p:nvPr/>
        </p:nvSpPr>
        <p:spPr>
          <a:xfrm>
            <a:off x="6172200" y="502920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6355080" y="5257800"/>
            <a:ext cx="594360" cy="594360"/>
          </a:xfrm>
          <a:prstGeom prst="ellipse">
            <a:avLst/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670" y="5406390"/>
            <a:ext cx="297180" cy="297180"/>
          </a:xfrm>
          <a:prstGeom prst="rect">
            <a:avLst/>
          </a:prstGeom>
        </p:spPr>
      </p:pic>
      <p:sp>
        <p:nvSpPr>
          <p:cNvPr id="47" name="Text 41"/>
          <p:cNvSpPr txBox="1"/>
          <p:nvPr/>
        </p:nvSpPr>
        <p:spPr>
          <a:xfrm>
            <a:off x="7132320" y="51389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</a:t>
            </a:r>
            <a:endParaRPr lang="en-US" sz="1500" dirty="0"/>
          </a:p>
        </p:txBody>
      </p:sp>
      <p:sp>
        <p:nvSpPr>
          <p:cNvPr id="48" name="Text 42"/>
          <p:cNvSpPr txBox="1"/>
          <p:nvPr/>
        </p:nvSpPr>
        <p:spPr>
          <a:xfrm>
            <a:off x="7132320" y="5458968"/>
            <a:ext cx="4343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CLI, Streamlit UI and trace.jsonl all consume the same event stream → free replay</a:t>
            </a:r>
            <a:endParaRPr lang="en-US" sz="1200" dirty="0"/>
          </a:p>
        </p:txBody>
      </p:sp>
      <p:sp>
        <p:nvSpPr>
          <p:cNvPr id="49" name="Text 4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· github.com/UditSinghChauhan/scout-agent</a:t>
            </a:r>
            <a:endParaRPr lang="en-US" sz="1000" dirty="0"/>
          </a:p>
        </p:txBody>
      </p:sp>
      <p:sp>
        <p:nvSpPr>
          <p:cNvPr id="50" name="Text 4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patterns, mapped to code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pattern lives in a small, tested module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94360" cy="5943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16027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Plan-and-Execute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632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planner.py writes the plan; orchestrator.py runs it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64992" y="178308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93592" y="2011680"/>
            <a:ext cx="594360" cy="594360"/>
          </a:xfrm>
          <a:prstGeom prst="ellipse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182" y="216027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93592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93592" y="30632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executor.py: think → search / fetch / recall → observe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81344" y="178308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9944" y="2011680"/>
            <a:ext cx="594360" cy="5943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534" y="216027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9944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use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409944" y="30632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tools/registry.py: name, description, JSON schema per tool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997696" y="178308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26296" y="2011680"/>
            <a:ext cx="594360" cy="594360"/>
          </a:xfrm>
          <a:prstGeom prst="ellipse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4886" y="216027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26296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 routing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226296" y="30632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critic.py: complete · retry · follow-up · unknown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02336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4251960"/>
            <a:ext cx="594360" cy="5943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" y="4400550"/>
            <a:ext cx="297180" cy="2971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77240" y="4937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Self-verification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777240" y="5303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verifier.py: deterministic checks + one revision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3364992" y="402336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593592" y="4251960"/>
            <a:ext cx="594360" cy="594360"/>
          </a:xfrm>
          <a:prstGeom prst="ellipse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2182" y="4400550"/>
            <a:ext cx="297180" cy="2971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93592" y="4937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Reflexion lessons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3593592" y="5303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reflector.py writes and votes; top 3 go into the next plan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6181344" y="402336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09944" y="4251960"/>
            <a:ext cx="594360" cy="59436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8534" y="4400550"/>
            <a:ext cx="297180" cy="29718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409944" y="4937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feedback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6409944" y="5303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👍/👎 per section updates source scores and lesson votes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8997696" y="402336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226296" y="4251960"/>
            <a:ext cx="594360" cy="594360"/>
          </a:xfrm>
          <a:prstGeom prst="ellipse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4886" y="4400550"/>
            <a:ext cx="297180" cy="29718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226296" y="4937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 failover</a:t>
            </a:r>
            <a:endParaRPr lang="en-US" sz="1600" dirty="0"/>
          </a:p>
        </p:txBody>
      </p:sp>
      <p:sp>
        <p:nvSpPr>
          <p:cNvPr id="43" name="Text 33"/>
          <p:cNvSpPr txBox="1"/>
          <p:nvPr/>
        </p:nvSpPr>
        <p:spPr>
          <a:xfrm>
            <a:off x="9226296" y="53035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router.py: ordered candidates, cooldowns, traced switches</a:t>
            </a:r>
            <a:endParaRPr lang="en-US" sz="1200" dirty="0"/>
          </a:p>
        </p:txBody>
      </p:sp>
      <p:sp>
        <p:nvSpPr>
          <p:cNvPr id="44" name="Text 3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· github.com/UditSinghChauhan/scout-agent</a:t>
            </a:r>
            <a:endParaRPr lang="en-US" sz="1000" dirty="0"/>
          </a:p>
        </p:txBody>
      </p:sp>
      <p:sp>
        <p:nvSpPr>
          <p:cNvPr id="45" name="Text 35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checks its own work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 after every step, a deterministic verifier before anything is published</a:t>
            </a:r>
            <a:endParaRPr lang="en-US" sz="1600" dirty="0"/>
          </a:p>
        </p:txBody>
      </p:sp>
      <p:pic>
        <p:nvPicPr>
          <p:cNvPr id="4" name="Image 0" descr="/home/user/scout-agent/docs/img/t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3847429" cy="45720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754880" y="1691640"/>
            <a:ext cx="6858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(LLM, per step)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each step and every source it saw. On weak evidence it orders a retry with a concrete new approach — e.g. “search the Zoho engineering blog for Java” instead of an aggregator.</a:t>
            </a:r>
            <a:endParaRPr lang="en-US" sz="17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(code, per brief)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must cite existing evidence, and every number in a claim must appear in a cited snippet. One LLM revision; what still fails moves to Unknowns.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754880" y="4572000"/>
            <a:ext cx="2148840" cy="1600200"/>
          </a:xfrm>
          <a:prstGeom prst="roundRect">
            <a:avLst>
              <a:gd name="adj" fmla="val 685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4754880" y="46634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4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4892040" y="54864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coverage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086600" y="4572000"/>
            <a:ext cx="2148840" cy="1600200"/>
          </a:xfrm>
          <a:prstGeom prst="roundRect">
            <a:avLst>
              <a:gd name="adj" fmla="val 685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086600" y="46634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54864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flagged by the verifier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418320" y="4572000"/>
            <a:ext cx="2148840" cy="1600200"/>
          </a:xfrm>
          <a:prstGeom prst="roundRect">
            <a:avLst>
              <a:gd name="adj" fmla="val 685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9418320" y="46634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9555480" y="54864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to Unknowns, not published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754880" y="61996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13 recorded runs (evals/results.md)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· github.com/UditSinghChauhan/scout-agent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gets faster with use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 asked twice — “Prep me for an SDE intern interview at Zoho.” — run 2 vs run 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57400" cy="2103120"/>
          </a:xfrm>
          <a:prstGeom prst="roundRect">
            <a:avLst>
              <a:gd name="adj" fmla="val 5333"/>
            </a:avLst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659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−33%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→ 8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07208" y="1828800"/>
            <a:ext cx="2057400" cy="2103120"/>
          </a:xfrm>
          <a:prstGeom prst="roundRect">
            <a:avLst>
              <a:gd name="adj" fmla="val 5333"/>
            </a:avLst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07208" y="19659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−29%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2807208" y="28803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807208" y="3291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→ 22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65776" y="1828800"/>
            <a:ext cx="2057400" cy="2103120"/>
          </a:xfrm>
          <a:prstGeom prst="roundRect">
            <a:avLst>
              <a:gd name="adj" fmla="val 5333"/>
            </a:avLst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65776" y="19659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−24%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5065776" y="28803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065776" y="3291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40,040 → 30,478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24344" y="1828800"/>
            <a:ext cx="2057400" cy="2103120"/>
          </a:xfrm>
          <a:prstGeom prst="roundRect">
            <a:avLst>
              <a:gd name="adj" fmla="val 5333"/>
            </a:avLst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24344" y="19659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−51%</a:t>
            </a:r>
            <a:endParaRPr lang="en-US" sz="4800" dirty="0"/>
          </a:p>
        </p:txBody>
      </p:sp>
      <p:sp>
        <p:nvSpPr>
          <p:cNvPr id="18" name="Text 16"/>
          <p:cNvSpPr txBox="1"/>
          <p:nvPr/>
        </p:nvSpPr>
        <p:spPr>
          <a:xfrm>
            <a:off x="7324344" y="28803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24344" y="3291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203.7 s → 99.1 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582912" y="1828800"/>
            <a:ext cx="2057400" cy="2103120"/>
          </a:xfrm>
          <a:prstGeom prst="roundRect">
            <a:avLst>
              <a:gd name="adj" fmla="val 5333"/>
            </a:avLst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82912" y="19659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</a:t>
            </a:r>
            <a:endParaRPr lang="en-US" sz="4800" dirty="0"/>
          </a:p>
        </p:txBody>
      </p:sp>
      <p:sp>
        <p:nvSpPr>
          <p:cNvPr id="22" name="Text 20"/>
          <p:cNvSpPr txBox="1"/>
          <p:nvPr/>
        </p:nvSpPr>
        <p:spPr>
          <a:xfrm>
            <a:off x="9582912" y="28803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reused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582912" y="3291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→ 12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548640" cy="5486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480560"/>
            <a:ext cx="274320" cy="27432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280160" y="4343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 memory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0292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facts per company, with source URL and freshness (7 days stable, 2 days news). Steps memory answers skip research but keep citations.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297680" y="4343400"/>
            <a:ext cx="548640" cy="5486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4480560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5029200" y="4343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reliability</a:t>
            </a:r>
            <a:endParaRPr lang="en-US" sz="1700" dirty="0"/>
          </a:p>
        </p:txBody>
      </p:sp>
      <p:sp>
        <p:nvSpPr>
          <p:cNvPr id="31" name="Text 27"/>
          <p:cNvSpPr txBox="1"/>
          <p:nvPr/>
        </p:nvSpPr>
        <p:spPr>
          <a:xfrm>
            <a:off x="4297680" y="50292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+ 👍/👎 ratings per domain: (useful+1)/(useful+useless+2). Search results are gently re-ranked.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8046720" y="4343400"/>
            <a:ext cx="548640" cy="5486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4480560"/>
            <a:ext cx="274320" cy="274320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8778240" y="4343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lessons</a:t>
            </a:r>
            <a:endParaRPr lang="en-US" sz="1700" dirty="0"/>
          </a:p>
        </p:txBody>
      </p:sp>
      <p:sp>
        <p:nvSpPr>
          <p:cNvPr id="35" name="Text 30"/>
          <p:cNvSpPr txBox="1"/>
          <p:nvPr/>
        </p:nvSpPr>
        <p:spPr>
          <a:xfrm>
            <a:off x="8046720" y="50292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reflector writes 1–3 lessons per run; the top 3 per purpose shape the next plan and get voted on.</a:t>
            </a:r>
            <a:endParaRPr lang="en-US" sz="1300" dirty="0"/>
          </a:p>
        </p:txBody>
      </p:sp>
      <p:sp>
        <p:nvSpPr>
          <p:cNvPr id="36" name="Text 3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· github.com/UditSinghChauhan/scout-agent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carries over between runs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live runs recorded after a memory reset — committed in examples/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508760" y="1828800"/>
            <a:ext cx="640080" cy="640080"/>
          </a:xfrm>
          <a:prstGeom prst="ellipse">
            <a:avLst/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087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40280" y="2148840"/>
            <a:ext cx="2633472" cy="0"/>
          </a:xfrm>
          <a:prstGeom prst="line">
            <a:avLst/>
          </a:prstGeom>
          <a:noFill/>
          <a:ln w="25400">
            <a:solidFill>
              <a:srgbClr val="C9CED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48640" y="26974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2834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54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· sales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204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start. Researches size, campus programs, hiring tools, buyer roles. Writes lessons for sales prospects.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25112" y="1828800"/>
            <a:ext cx="640080" cy="6400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25112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056632" y="2148840"/>
            <a:ext cx="2633472" cy="0"/>
          </a:xfrm>
          <a:prstGeom prst="line">
            <a:avLst/>
          </a:prstGeom>
          <a:noFill/>
          <a:ln w="25400">
            <a:solidFill>
              <a:srgbClr val="C9CED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364992" y="26974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547872" y="2834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2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547872" y="3154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· interview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547872" y="35204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Recalls 8 facts from run 1: memory answers step 1; research goes to new questions (stack, culture, formats).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41464" y="1828800"/>
            <a:ext cx="640080" cy="640080"/>
          </a:xfrm>
          <a:prstGeom prst="ellipse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41464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872984" y="2148840"/>
            <a:ext cx="2633472" cy="0"/>
          </a:xfrm>
          <a:prstGeom prst="line">
            <a:avLst/>
          </a:prstGeom>
          <a:noFill/>
          <a:ln w="25400">
            <a:solidFill>
              <a:srgbClr val="C9CED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181344" y="26974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364224" y="2834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3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364224" y="3154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Freshworks · sales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64224" y="35204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stored facts, but 2 lessons from run 1 shape the plan (news + investor-relations sources).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957816" y="1828800"/>
            <a:ext cx="640080" cy="6400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5781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8997696" y="269748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180576" y="2834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4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180576" y="31546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· interview again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180576" y="35204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12 facts and run 2's 3 lessons: 8 tool calls instead of 12, half the time.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349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injected into run 3: </a:t>
            </a:r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“Combine Google News with press-release aggregators and the company’s investor-relations page to capture funding rounds or strategic initiatives that signal buying intent.”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· github.com/UditSinghChauhan/scout-agent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Evals from real runs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scout eval --from-runs · 13 recorded development runs, not a curated benchmark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5852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828800"/>
          <a:ext cx="48463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40080"/>
                <a:gridCol w="914400"/>
                <a:gridCol w="96012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sec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stops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 prep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prospect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766560" y="40233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19k–58k tokens per full run on free tiers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stops end in a partial brief that says so — never a crash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task set: evals/tasks.yaml (one task per purpose)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· github.com/UditSinghChauhan/scout-agent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and safety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open web and free-tier APIs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94360" cy="594360"/>
          </a:xfrm>
          <a:prstGeom prst="ellipse">
            <a:avLst/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16027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011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budgets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432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steps (8 with follow-up), 30 tool calls, 60 LLM calls, 480 s. Two LLM calls reserved so a brief always gets written.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2011680"/>
            <a:ext cx="594360" cy="594360"/>
          </a:xfrm>
          <a:prstGeom prst="ellipse">
            <a:avLst/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216027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2011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SSRF guard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7432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fetch_page allows http/https only, blocks private, loopback and link-local addresses, re-checks every redirect.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2011680"/>
            <a:ext cx="594360" cy="594360"/>
          </a:xfrm>
          <a:prstGeom prst="ellipse">
            <a:avLst/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216027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06840" y="2011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Untrusted content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7432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web text wrapped in &lt;untrusted_content&gt;; prompts treat it as data, never instructions.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251960"/>
            <a:ext cx="594360" cy="594360"/>
          </a:xfrm>
          <a:prstGeom prst="ellipse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440055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4251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Roles, not people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9834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profiles fetched or cited; emails and phone numbers scrubbed from briefs.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297680" y="402336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4251960"/>
            <a:ext cx="594360" cy="594360"/>
          </a:xfrm>
          <a:prstGeom prst="ellipse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4870" y="4400550"/>
            <a:ext cx="297180" cy="2971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57800" y="4251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 failover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49834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Cooldowns on quota errors, failover on 401/403/404, every switch traced; rate-limit waits shown live.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046720" y="402336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5320" y="4251960"/>
            <a:ext cx="594360" cy="594360"/>
          </a:xfrm>
          <a:prstGeom prst="ellipse">
            <a:avLst/>
          </a:prstGeom>
          <a:solidFill>
            <a:srgbClr val="14A38B"/>
          </a:solidFill>
          <a:ln w="12700">
            <a:solidFill>
              <a:srgbClr val="14A38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910" y="4400550"/>
            <a:ext cx="297180" cy="29718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06840" y="4251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258 offline tests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49834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LLM and fake search, no network — including a Streamlit AppTest of the UI.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· github.com/UditSinghChauhan/scout-agent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 and trade-offs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chose, why, and what it costs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846320"/>
                <a:gridCol w="2926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6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Hand-written state machine, no framework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edge, budget and failure is visible and unit-tested; replay falls out of the event stream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code to 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action protocol, not native tool calls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Portable across OpenAI-compatible providers; Pydantic-validated, one repair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also accept native-call shapes some models emit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memory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setup after clone; transactional; inspectable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Single-user; no fuzzy (vector) 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checks behind the LLM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Citations, numbers, personal data and memory reuse don’t depend on model quality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Exact-match numeric check can be strict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Free-tier multi-model router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without paid keys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limits slow runs; quality varies by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Replay-first 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Judging and demos cost no quota and are reproducible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4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Replays must be labelled (the UI does)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· github.com/UditSinghChauhan/scout-agent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limits, and what’s next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quotas cap live runs at a handful per day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quality varies by model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check is exact-match after normalisation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are not always fully company-neutral yet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371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A3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8745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competitor tracking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memory for fuzzy fact recall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of independent steps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7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as an MCP server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11064240" cy="2103120"/>
          </a:xfrm>
          <a:prstGeom prst="roundRect">
            <a:avLst>
              <a:gd name="adj" fmla="val 5217"/>
            </a:avLst>
          </a:prstGeom>
          <a:solidFill>
            <a:srgbClr val="1C2640"/>
          </a:solidFill>
          <a:ln w="12700">
            <a:solidFill>
              <a:srgbClr val="1C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4297680"/>
            <a:ext cx="731520" cy="7315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4805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783080" y="4297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in minutes — no API key needed to replay the example runs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783080" y="46817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github.com/UditSinghChauhan/scout-agent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783080" y="5120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E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https://github.com/UditSinghChauhan/scout-agent.git &amp;&amp; cd scout-agent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CE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venv .venv &amp;&amp; source .venv/bin/activate &amp;&amp; pip install -r requirements.txt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CE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 &amp;&amp; python -m scout ui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· github.com/UditSinghChauhan/scout-agent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Scout — purpose-aware company intelligence agent</dc:title>
  <dc:subject>PptxGenJS Presentation</dc:subject>
  <dc:creator>Udit Singh Chauhan</dc:creator>
  <cp:lastModifiedBy>Udit Singh Chauhan</cp:lastModifiedBy>
  <cp:revision>1</cp:revision>
  <dcterms:created xsi:type="dcterms:W3CDTF">2026-09-27T16:33:35Z</dcterms:created>
  <dcterms:modified xsi:type="dcterms:W3CDTF">2026-09-27T16:33:35Z</dcterms:modified>
</cp:coreProperties>
</file>